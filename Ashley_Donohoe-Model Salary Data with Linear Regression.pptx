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Roboto Mono Light"/>
      <p:regular r:id="rId14"/>
      <p:bold r:id="rId15"/>
      <p:italic r:id="rId16"/>
      <p:boldItalic r:id="rId17"/>
    </p:embeddedFont>
    <p:embeddedFont>
      <p:font typeface="Open Sans Light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Light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OpenSansLight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MonoLight-bold.fntdata"/><Relationship Id="rId14" Type="http://schemas.openxmlformats.org/officeDocument/2006/relationships/font" Target="fonts/RobotoMonoLight-regular.fntdata"/><Relationship Id="rId17" Type="http://schemas.openxmlformats.org/officeDocument/2006/relationships/font" Target="fonts/RobotoMonoLight-boldItalic.fntdata"/><Relationship Id="rId16" Type="http://schemas.openxmlformats.org/officeDocument/2006/relationships/font" Target="fonts/RobotoMonoLight-italic.fntdata"/><Relationship Id="rId19" Type="http://schemas.openxmlformats.org/officeDocument/2006/relationships/font" Target="fonts/OpenSansLight-bold.fntdata"/><Relationship Id="rId18" Type="http://schemas.openxmlformats.org/officeDocument/2006/relationships/font" Target="fonts/OpenSans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5b2e72063_0_2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05b2e72063_0_2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3dd687b2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13dd687b2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3dd687b2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13dd687b2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daacbaf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daacbaf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01d5f8f2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01d5f8f2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daacbaf5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daacbaf5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daacbaf5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daacbaf5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201d5f8f2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201d5f8f2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a Lesson Title ">
  <p:cSld name="TITLE_1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-3410" l="0" r="0" t="3420"/>
          <a:stretch/>
        </p:blipFill>
        <p:spPr>
          <a:xfrm>
            <a:off x="1239650" y="1254250"/>
            <a:ext cx="2877300" cy="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Open Sans Light"/>
              <a:buNone/>
              <a:defRPr sz="9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1225200" y="5937550"/>
            <a:ext cx="100704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1232067" y="1034380"/>
            <a:ext cx="3497101" cy="986219"/>
            <a:chOff x="989538" y="1051025"/>
            <a:chExt cx="3377536" cy="952500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2">
              <a:alphaModFix/>
            </a:blip>
            <a:srcRect b="-3410" l="0" r="0" t="3420"/>
            <a:stretch/>
          </p:blipFill>
          <p:spPr>
            <a:xfrm>
              <a:off x="1239650" y="1254250"/>
              <a:ext cx="2877300" cy="54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995600" y="1051025"/>
              <a:ext cx="3365400" cy="952500"/>
            </a:xfrm>
            <a:prstGeom prst="rect">
              <a:avLst/>
            </a:prstGeom>
            <a:solidFill>
              <a:srgbClr val="171A53"/>
            </a:solidFill>
            <a:ln cap="flat" cmpd="sng" w="9525">
              <a:solidFill>
                <a:srgbClr val="171A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171A5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89538" y="1058076"/>
              <a:ext cx="3377536" cy="93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b Lesson Title (Designer or Producer Only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1225200" y="3735300"/>
            <a:ext cx="15837600" cy="281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600"/>
              <a:buFont typeface="Open Sans Light"/>
              <a:buNone/>
              <a:defRPr sz="7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a Full Bullet">
  <p:cSld name="TITLE_AND_BODY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936">
          <p15:clr>
            <a:schemeClr val="accent1"/>
          </p15:clr>
        </p15:guide>
        <p15:guide id="6" orient="horz" pos="5328">
          <p15:clr>
            <a:schemeClr val="accent1"/>
          </p15:clr>
        </p15:guide>
        <p15:guide id="7" orient="horz" pos="1152">
          <p15:clr>
            <a:schemeClr val="accent1"/>
          </p15:clr>
        </p15:guide>
        <p15:guide id="8" pos="5760">
          <p15:clr>
            <a:srgbClr val="E46962"/>
          </p15:clr>
        </p15:guide>
        <p15:guide id="9" orient="horz" pos="31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g Full Graphic">
  <p:cSld name="TITLE_ONLY_1_1_1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685800" y="0"/>
            <a:ext cx="16916400" cy="11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 Light"/>
              <a:buNone/>
              <a:defRPr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7750" y="9434275"/>
            <a:ext cx="2619803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5760">
          <p15:clr>
            <a:schemeClr val="accent1"/>
          </p15:clr>
        </p15:guide>
        <p15:guide id="4" orient="horz" pos="717">
          <p15:clr>
            <a:schemeClr val="accent1"/>
          </p15:clr>
        </p15:guide>
        <p15:guide id="5" pos="5760">
          <p15:clr>
            <a:srgbClr val="E46962"/>
          </p15:clr>
        </p15:guide>
        <p15:guide id="6" orient="horz" pos="32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b Third Card">
  <p:cSld name="TITLE_AND_BODY_1_1_1_3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11623800" y="684300"/>
            <a:ext cx="5978400" cy="7774200"/>
          </a:xfrm>
          <a:prstGeom prst="round1Rect">
            <a:avLst>
              <a:gd fmla="val 28421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12058350" y="1523388"/>
            <a:ext cx="3915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 b="1" sz="26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12058350" y="2629500"/>
            <a:ext cx="5109600" cy="53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12058350" y="1120500"/>
            <a:ext cx="4868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685800" y="307975"/>
            <a:ext cx="102522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5328">
          <p15:clr>
            <a:schemeClr val="accent1"/>
          </p15:clr>
        </p15:guide>
        <p15:guide id="6" pos="10814">
          <p15:clr>
            <a:schemeClr val="accent1"/>
          </p15:clr>
        </p15:guide>
        <p15:guide id="7" pos="7596">
          <p15:clr>
            <a:schemeClr val="accent1"/>
          </p15:clr>
        </p15:guide>
        <p15:guide id="8" orient="horz" pos="5054">
          <p15:clr>
            <a:schemeClr val="accent2"/>
          </p15:clr>
        </p15:guide>
        <p15:guide id="9" pos="6890">
          <p15:clr>
            <a:schemeClr val="accent1"/>
          </p15:clr>
        </p15:guide>
        <p15:guide id="10" pos="7322">
          <p15:clr>
            <a:schemeClr val="accent1"/>
          </p15:clr>
        </p15:guide>
        <p15:guide id="11" orient="horz" pos="1152">
          <p15:clr>
            <a:schemeClr val="accent2"/>
          </p15:clr>
        </p15:guide>
        <p15:guide id="12" orient="horz" pos="939">
          <p15:clr>
            <a:schemeClr val="accent1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c Half Card">
  <p:cSld name="TITLE_AND_BODY_1_1_1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9829800" y="684300"/>
            <a:ext cx="77724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10264500" y="2194800"/>
            <a:ext cx="6903000" cy="58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2" type="subTitle"/>
          </p:nvPr>
        </p:nvSpPr>
        <p:spPr>
          <a:xfrm>
            <a:off x="10264500" y="1120500"/>
            <a:ext cx="6662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685800" y="307975"/>
            <a:ext cx="95790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10814">
          <p15:clr>
            <a:schemeClr val="accent1"/>
          </p15:clr>
        </p15:guide>
        <p15:guide id="6" pos="6466">
          <p15:clr>
            <a:schemeClr val="accent1"/>
          </p15:clr>
        </p15:guide>
        <p15:guide id="7" orient="horz" pos="5054">
          <p15:clr>
            <a:schemeClr val="accent2"/>
          </p15:clr>
        </p15:guide>
        <p15:guide id="8" pos="5760">
          <p15:clr>
            <a:schemeClr val="accent1"/>
          </p15:clr>
        </p15:guide>
        <p15:guide id="9" pos="6192">
          <p15:clr>
            <a:schemeClr val="accent1"/>
          </p15:clr>
        </p15:guide>
        <p15:guide id="10" orient="horz" pos="1152">
          <p15:clr>
            <a:schemeClr val="accent2"/>
          </p15:clr>
        </p15:guide>
        <p15:guide id="11" orient="horz" pos="939">
          <p15:clr>
            <a:schemeClr val="accent1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e Dual Card">
  <p:cSld name="CUSTOM_1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9487100" y="684300"/>
            <a:ext cx="81150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 flipH="1" rot="-5400000">
            <a:off x="846450" y="495600"/>
            <a:ext cx="7786200" cy="81378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11205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2" type="subTitle"/>
          </p:nvPr>
        </p:nvSpPr>
        <p:spPr>
          <a:xfrm>
            <a:off x="11205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66" name="Google Shape;66;p8"/>
          <p:cNvSpPr txBox="1"/>
          <p:nvPr>
            <p:ph idx="3" type="body"/>
          </p:nvPr>
        </p:nvSpPr>
        <p:spPr>
          <a:xfrm>
            <a:off x="99218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4" type="subTitle"/>
          </p:nvPr>
        </p:nvSpPr>
        <p:spPr>
          <a:xfrm>
            <a:off x="99218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FF0000"/>
          </p15:clr>
        </p15:guide>
        <p15:guide id="2" pos="5760">
          <p15:clr>
            <a:srgbClr val="FF0000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5553">
          <p15:clr>
            <a:schemeClr val="accent1"/>
          </p15:clr>
        </p15:guide>
        <p15:guide id="6" pos="597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pos="706">
          <p15:clr>
            <a:schemeClr val="accent1"/>
          </p15:clr>
        </p15:guide>
        <p15:guide id="10" pos="5275">
          <p15:clr>
            <a:schemeClr val="accent1"/>
          </p15:clr>
        </p15:guide>
        <p15:guide id="11" pos="6250">
          <p15:clr>
            <a:schemeClr val="accent1"/>
          </p15:clr>
        </p15:guide>
        <p15:guide id="12" pos="10814">
          <p15:clr>
            <a:schemeClr val="accent1"/>
          </p15:clr>
        </p15:guide>
        <p15:guide id="13" orient="horz" pos="1219">
          <p15:clr>
            <a:schemeClr val="accent2"/>
          </p15:clr>
        </p15:guide>
        <p15:guide id="14" orient="horz" pos="5054">
          <p15:clr>
            <a:schemeClr val="accent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f Triple Card ">
  <p:cSld name="CUSTOM_1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6547175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68580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1240855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112050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9"/>
          <p:cNvSpPr txBox="1"/>
          <p:nvPr>
            <p:ph idx="2" type="subTitle"/>
          </p:nvPr>
        </p:nvSpPr>
        <p:spPr>
          <a:xfrm>
            <a:off x="113475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78" name="Google Shape;78;p9"/>
          <p:cNvSpPr txBox="1"/>
          <p:nvPr>
            <p:ph idx="3" type="body"/>
          </p:nvPr>
        </p:nvSpPr>
        <p:spPr>
          <a:xfrm>
            <a:off x="6981875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4" type="subTitle"/>
          </p:nvPr>
        </p:nvSpPr>
        <p:spPr>
          <a:xfrm>
            <a:off x="6996125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0" name="Google Shape;80;p9"/>
          <p:cNvSpPr txBox="1"/>
          <p:nvPr>
            <p:ph idx="5" type="body"/>
          </p:nvPr>
        </p:nvSpPr>
        <p:spPr>
          <a:xfrm>
            <a:off x="1284325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idx="6" type="subTitle"/>
          </p:nvPr>
        </p:nvSpPr>
        <p:spPr>
          <a:xfrm>
            <a:off x="1285750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2" name="Google Shape;82;p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355">
          <p15:clr>
            <a:srgbClr val="FF0000"/>
          </p15:clr>
        </p15:guide>
        <p15:guide id="2" pos="4124">
          <p15:clr>
            <a:schemeClr val="accent1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3703">
          <p15:clr>
            <a:schemeClr val="accent1"/>
          </p15:clr>
        </p15:guide>
        <p15:guide id="6" pos="739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orient="horz" pos="1219">
          <p15:clr>
            <a:schemeClr val="accent1"/>
          </p15:clr>
        </p15:guide>
        <p15:guide id="10" pos="7816">
          <p15:clr>
            <a:schemeClr val="accent1"/>
          </p15:clr>
        </p15:guide>
        <p15:guide id="11" orient="horz" pos="939">
          <p15:clr>
            <a:schemeClr val="accent1"/>
          </p15:clr>
        </p15:guide>
        <p15:guide id="12" pos="2068">
          <p15:clr>
            <a:srgbClr val="E46962"/>
          </p15:clr>
        </p15:guide>
        <p15:guide id="13" pos="5760">
          <p15:clr>
            <a:srgbClr val="E46962"/>
          </p15:clr>
        </p15:guide>
        <p15:guide id="14" pos="945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ode">
  <p:cSld name="TITLE_AND_BODY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" name="Google Shape;8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685800" y="1554750"/>
            <a:ext cx="169164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orient="horz" pos="315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Dual Code">
  <p:cSld name="TITLE_AND_BODY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68580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936135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pos="5623">
          <p15:clr>
            <a:schemeClr val="accent1"/>
          </p15:clr>
        </p15:guide>
        <p15:guide id="9" pos="5897">
          <p15:clr>
            <a:schemeClr val="accent1"/>
          </p15:clr>
        </p15:guide>
        <p15:guide id="10" orient="horz" pos="324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Quote Full Card">
  <p:cSld name="CUSTOM_1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/>
          <p:nvPr/>
        </p:nvSpPr>
        <p:spPr>
          <a:xfrm flipH="1">
            <a:off x="1285650" y="1009650"/>
            <a:ext cx="15717000" cy="8268000"/>
          </a:xfrm>
          <a:prstGeom prst="round2DiagRect">
            <a:avLst>
              <a:gd fmla="val 20143" name="adj1"/>
              <a:gd fmla="val 0" name="adj2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2110650" y="1908000"/>
            <a:ext cx="14067000" cy="647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533400" lvl="0" marL="457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533400" lvl="1" marL="914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533400" lvl="2" marL="1371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533400" lvl="3" marL="1828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533400" lvl="4" marL="22860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533400" lvl="5" marL="2743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533400" lvl="6" marL="3200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533400" lvl="7" marL="3657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533400" lvl="8" marL="4114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25200" y="1210250"/>
            <a:ext cx="15837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 Light"/>
              <a:buNone/>
              <a:defRPr sz="5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25200" y="3107750"/>
            <a:ext cx="15837600" cy="6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  <a:defRPr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19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○"/>
              <a:defRPr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810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810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810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810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 algn="r">
              <a:buNone/>
              <a:defRPr sz="2000">
                <a:solidFill>
                  <a:schemeClr val="dk2"/>
                </a:solidFill>
              </a:defRPr>
            </a:lvl1pPr>
            <a:lvl2pPr lvl="1" rtl="0" algn="r">
              <a:buNone/>
              <a:defRPr sz="2000">
                <a:solidFill>
                  <a:schemeClr val="dk2"/>
                </a:solidFill>
              </a:defRPr>
            </a:lvl2pPr>
            <a:lvl3pPr lvl="2" rtl="0" algn="r">
              <a:buNone/>
              <a:defRPr sz="2000">
                <a:solidFill>
                  <a:schemeClr val="dk2"/>
                </a:solidFill>
              </a:defRPr>
            </a:lvl3pPr>
            <a:lvl4pPr lvl="3" rtl="0" algn="r">
              <a:buNone/>
              <a:defRPr sz="2000">
                <a:solidFill>
                  <a:schemeClr val="dk2"/>
                </a:solidFill>
              </a:defRPr>
            </a:lvl4pPr>
            <a:lvl5pPr lvl="4" rtl="0" algn="r">
              <a:buNone/>
              <a:defRPr sz="2000">
                <a:solidFill>
                  <a:schemeClr val="dk2"/>
                </a:solidFill>
              </a:defRPr>
            </a:lvl5pPr>
            <a:lvl6pPr lvl="5" rtl="0" algn="r">
              <a:buNone/>
              <a:defRPr sz="2000">
                <a:solidFill>
                  <a:schemeClr val="dk2"/>
                </a:solidFill>
              </a:defRPr>
            </a:lvl6pPr>
            <a:lvl7pPr lvl="6" rtl="0" algn="r">
              <a:buNone/>
              <a:defRPr sz="2000">
                <a:solidFill>
                  <a:schemeClr val="dk2"/>
                </a:solidFill>
              </a:defRPr>
            </a:lvl7pPr>
            <a:lvl8pPr lvl="7" rtl="0" algn="r">
              <a:buNone/>
              <a:defRPr sz="2000">
                <a:solidFill>
                  <a:schemeClr val="dk2"/>
                </a:solidFill>
              </a:defRPr>
            </a:lvl8pPr>
            <a:lvl9pPr lvl="8" rtl="0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3"/>
          <p:cNvSpPr txBox="1"/>
          <p:nvPr>
            <p:ph type="ctrTitle"/>
          </p:nvPr>
        </p:nvSpPr>
        <p:spPr>
          <a:xfrm>
            <a:off x="1225200" y="2813950"/>
            <a:ext cx="10070400" cy="41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/>
              <a:t>Analysis of Salary Data</a:t>
            </a:r>
            <a:endParaRPr sz="1000"/>
          </a:p>
        </p:txBody>
      </p:sp>
      <p:sp>
        <p:nvSpPr>
          <p:cNvPr id="108" name="Google Shape;108;p13"/>
          <p:cNvSpPr txBox="1"/>
          <p:nvPr>
            <p:ph idx="1" type="subTitle"/>
          </p:nvPr>
        </p:nvSpPr>
        <p:spPr>
          <a:xfrm>
            <a:off x="1256200" y="7559875"/>
            <a:ext cx="100398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b="1" lang="en"/>
              <a:t>Data Scientist: Ashley Donohoe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Agenda</a:t>
            </a:r>
            <a:endParaRPr sz="6400"/>
          </a:p>
        </p:txBody>
      </p:sp>
      <p:sp>
        <p:nvSpPr>
          <p:cNvPr id="114" name="Google Shape;114;p14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Findings of</a:t>
            </a:r>
            <a:r>
              <a:rPr lang="en">
                <a:solidFill>
                  <a:schemeClr val="accent1"/>
                </a:solidFill>
              </a:rPr>
              <a:t> linear regression modeling with tech salary data</a:t>
            </a:r>
            <a:endParaRPr sz="3000">
              <a:solidFill>
                <a:srgbClr val="2D3D4A"/>
              </a:solidFill>
            </a:endParaRPr>
          </a:p>
          <a:p>
            <a:pPr indent="-72390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Data Description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Regression Results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Interpretation and Next Steps</a:t>
            </a:r>
            <a:endParaRPr sz="42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D3D4A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Data Description (1 of 2)</a:t>
            </a:r>
            <a:endParaRPr sz="6400"/>
          </a:p>
        </p:txBody>
      </p:sp>
      <p:sp>
        <p:nvSpPr>
          <p:cNvPr id="120" name="Google Shape;120;p15"/>
          <p:cNvSpPr txBox="1"/>
          <p:nvPr>
            <p:ph idx="1" type="body"/>
          </p:nvPr>
        </p:nvSpPr>
        <p:spPr>
          <a:xfrm>
            <a:off x="685850" y="1828800"/>
            <a:ext cx="16393800" cy="691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" sz="2800"/>
              <a:t>This dataset originally included 375 employees.</a:t>
            </a:r>
            <a:endParaRPr sz="28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" sz="2800"/>
              <a:t>There was missing data for two employees, which were dropped since they accounted for only a tiny portion, leaving 373 employees.</a:t>
            </a:r>
            <a:endParaRPr sz="28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" sz="2800"/>
              <a:t>Salaries for the 373 employees ranged from $350 to $250,000, with the average salary at $100,577 and the median at $95,000. The histogram for the salary data is right-skewed, where most employee salaries range from around $40,000 to $150,000. </a:t>
            </a:r>
            <a:endParaRPr sz="28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" sz="2800"/>
              <a:t>The following features appear to be correlated with salary:</a:t>
            </a:r>
            <a:endParaRPr sz="2800"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b="1" lang="en" sz="2800"/>
              <a:t>Education level</a:t>
            </a:r>
            <a:r>
              <a:rPr lang="en" sz="2800"/>
              <a:t>: Higher education levels are correlated with higher average salaries: bachelor’s ($74,756), master’s ($129,796), and Ph.D. ($157,843).</a:t>
            </a:r>
            <a:endParaRPr sz="2800"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b="1" lang="en" sz="2800"/>
              <a:t>Gender</a:t>
            </a:r>
            <a:r>
              <a:rPr lang="en" sz="2800"/>
              <a:t>: Males earn a higher average salary ($103,868) than females ($97,011), a difference of $6,857.</a:t>
            </a:r>
            <a:endParaRPr sz="2800"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b="1" lang="en" sz="2800"/>
              <a:t>Years of experience</a:t>
            </a:r>
            <a:r>
              <a:rPr lang="en" sz="2800"/>
              <a:t>: Average salaries tend to increase year-over-year for professionals with 0 to 25 years of experience; this is also confirmed with the “r” value of 0.93.</a:t>
            </a:r>
            <a:endParaRPr sz="2800"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b="1" lang="en" sz="2800"/>
              <a:t>Job title</a:t>
            </a:r>
            <a:r>
              <a:rPr lang="en" sz="2800"/>
              <a:t>: Having a manager, senior, or director title is correlated with higher salaries.</a:t>
            </a:r>
            <a:endParaRPr sz="2800"/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Data Description (2 of 2)</a:t>
            </a:r>
            <a:endParaRPr sz="6400"/>
          </a:p>
        </p:txBody>
      </p:sp>
      <p:sp>
        <p:nvSpPr>
          <p:cNvPr id="126" name="Google Shape;126;p16"/>
          <p:cNvSpPr txBox="1"/>
          <p:nvPr>
            <p:ph idx="1" type="body"/>
          </p:nvPr>
        </p:nvSpPr>
        <p:spPr>
          <a:xfrm>
            <a:off x="685850" y="1828800"/>
            <a:ext cx="16393800" cy="691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"/>
              <a:t>Sample of supporting charts</a:t>
            </a:r>
            <a:endParaRPr/>
          </a:p>
        </p:txBody>
      </p:sp>
      <p:pic>
        <p:nvPicPr>
          <p:cNvPr id="127" name="Google Shape;12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675" y="2814649"/>
            <a:ext cx="5098650" cy="386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3650" y="2788450"/>
            <a:ext cx="4581248" cy="391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75598" y="2877613"/>
            <a:ext cx="4676700" cy="373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Regression Results (1 of 3)</a:t>
            </a:r>
            <a:endParaRPr sz="6400"/>
          </a:p>
        </p:txBody>
      </p:sp>
      <p:sp>
        <p:nvSpPr>
          <p:cNvPr id="135" name="Google Shape;135;p17"/>
          <p:cNvSpPr txBox="1"/>
          <p:nvPr>
            <p:ph idx="1" type="body"/>
          </p:nvPr>
        </p:nvSpPr>
        <p:spPr>
          <a:xfrm>
            <a:off x="685850" y="1828800"/>
            <a:ext cx="16393800" cy="691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"/>
              <a:t>Final model output: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/>
          </a:p>
        </p:txBody>
      </p:sp>
      <p:pic>
        <p:nvPicPr>
          <p:cNvPr id="136" name="Google Shape;13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1147" y="1906712"/>
            <a:ext cx="5391199" cy="6277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Regression Results (2 of 3)</a:t>
            </a:r>
            <a:endParaRPr sz="6400"/>
          </a:p>
        </p:txBody>
      </p:sp>
      <p:sp>
        <p:nvSpPr>
          <p:cNvPr id="142" name="Google Shape;142;p18"/>
          <p:cNvSpPr txBox="1"/>
          <p:nvPr>
            <p:ph idx="1" type="body"/>
          </p:nvPr>
        </p:nvSpPr>
        <p:spPr>
          <a:xfrm>
            <a:off x="685850" y="1828800"/>
            <a:ext cx="16393800" cy="691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" sz="2700"/>
              <a:t>The original model used 10 predictors, with resulting values of 0.915 for R-squared and 0.913 for adjusted R-squared. The final model used 7 predictors with similar resulting values of 0.914 for R-squared and 0.913 for adjusted R-squared.</a:t>
            </a:r>
            <a:endParaRPr sz="2700"/>
          </a:p>
          <a:p>
            <a:pPr indent="-400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" sz="2700"/>
              <a:t>These variables were found statistically significant in their relationship with salary, with p&lt;0.05. Their resulting values in the final model are as </a:t>
            </a:r>
            <a:r>
              <a:rPr lang="en" sz="2700"/>
              <a:t>follows</a:t>
            </a:r>
            <a:r>
              <a:rPr lang="en" sz="2700"/>
              <a:t>:</a:t>
            </a:r>
            <a:endParaRPr sz="2700"/>
          </a:p>
          <a:p>
            <a:pPr indent="-4000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b="1" lang="en" sz="2700"/>
              <a:t>is_male (p&lt;0.001, coef=+$7,630)</a:t>
            </a:r>
            <a:endParaRPr b="1" sz="2700"/>
          </a:p>
          <a:p>
            <a:pPr indent="-4000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b="1" lang="en" sz="2700"/>
              <a:t>is_senior </a:t>
            </a:r>
            <a:r>
              <a:rPr b="1" lang="en" sz="2700"/>
              <a:t>(p&lt;0.001, coef=+$14,450)</a:t>
            </a:r>
            <a:endParaRPr b="1" sz="2700"/>
          </a:p>
          <a:p>
            <a:pPr indent="-4000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b="1" lang="en" sz="2700"/>
              <a:t>is_manager </a:t>
            </a:r>
            <a:r>
              <a:rPr b="1" lang="en" sz="2700"/>
              <a:t>(p=0.019, coef=+$4,285)</a:t>
            </a:r>
            <a:endParaRPr b="1" sz="2700"/>
          </a:p>
          <a:p>
            <a:pPr indent="-4000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b="1" lang="en" sz="2700"/>
              <a:t>is_director </a:t>
            </a:r>
            <a:r>
              <a:rPr b="1" lang="en" sz="2700"/>
              <a:t>(p&lt;0.001, coef=+$24,980)</a:t>
            </a:r>
            <a:endParaRPr b="1" sz="2700"/>
          </a:p>
          <a:p>
            <a:pPr indent="-4000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b="1" lang="en" sz="2700"/>
              <a:t>Years of Experience </a:t>
            </a:r>
            <a:r>
              <a:rPr b="1" lang="en" sz="2700"/>
              <a:t>(p&lt;0.001, coef=+$5,104)</a:t>
            </a:r>
            <a:endParaRPr b="1" sz="2700"/>
          </a:p>
          <a:p>
            <a:pPr indent="-4000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b="1" lang="en" sz="2700"/>
              <a:t>education_Master’s </a:t>
            </a:r>
            <a:r>
              <a:rPr b="1" lang="en" sz="2700"/>
              <a:t>(p&lt;0.001, coef=+$14,040)</a:t>
            </a:r>
            <a:endParaRPr b="1" sz="2700"/>
          </a:p>
          <a:p>
            <a:pPr indent="-4000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b="1" lang="en" sz="2700"/>
              <a:t>education_PhD </a:t>
            </a:r>
            <a:r>
              <a:rPr b="1" lang="en" sz="2700"/>
              <a:t>(p&lt;0.001, coef=+$23,080)</a:t>
            </a:r>
            <a:endParaRPr b="1" sz="2700"/>
          </a:p>
          <a:p>
            <a:pPr indent="-400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" sz="2700"/>
              <a:t>The following variables were found to not be statistically significant based on the full model results and were removed when creating the final model:</a:t>
            </a:r>
            <a:endParaRPr sz="2700"/>
          </a:p>
          <a:p>
            <a:pPr indent="-4000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b="1" lang="en" sz="2700"/>
              <a:t>is_junior (p=0.068, coef=-$4,493)</a:t>
            </a:r>
            <a:endParaRPr b="1" sz="2700"/>
          </a:p>
          <a:p>
            <a:pPr indent="-4000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b="1" lang="en" sz="2700"/>
              <a:t>is_analyst (p=0.933, coef=-$176)</a:t>
            </a:r>
            <a:endParaRPr b="1" sz="2700"/>
          </a:p>
          <a:p>
            <a:pPr indent="-4000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b="1" lang="en" sz="2700"/>
              <a:t>is_engineer (p=0.508, coef=+$2,363)</a:t>
            </a:r>
            <a:endParaRPr b="1" sz="27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Regression Results (3 of 3)</a:t>
            </a:r>
            <a:endParaRPr sz="6400"/>
          </a:p>
        </p:txBody>
      </p:sp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685850" y="1828800"/>
            <a:ext cx="16393800" cy="691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" sz="2800"/>
              <a:t>The model appears to fit the data relatively well based on the R-squared and adjusted R-squared </a:t>
            </a:r>
            <a:r>
              <a:rPr lang="en" sz="2800"/>
              <a:t>values</a:t>
            </a:r>
            <a:r>
              <a:rPr lang="en" sz="2800"/>
              <a:t>.</a:t>
            </a:r>
            <a:endParaRPr sz="28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" sz="2800"/>
              <a:t>We can conclude that the model accounts for around 91% of the variance in salary.</a:t>
            </a:r>
            <a:endParaRPr sz="28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" sz="2800"/>
              <a:t>A scatterplot of the actual versus predicted salary data confirms a good fit, despite some outliers, especially for higher salaries.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149" name="Google Shape;14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5725" y="4057313"/>
            <a:ext cx="5734050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Interpretation and Next Steps</a:t>
            </a:r>
            <a:endParaRPr sz="6400"/>
          </a:p>
        </p:txBody>
      </p:sp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685850" y="1828800"/>
            <a:ext cx="16393800" cy="691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" sz="2800"/>
              <a:t>Variable 1: Senior title (compared to someone with no other title indications)</a:t>
            </a:r>
            <a:endParaRPr b="1" sz="2800"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/>
              <a:t>Given that all other variables remain constant, salary is expected to increase by approximately $14,450 for an employee with a senior title.</a:t>
            </a:r>
            <a:endParaRPr sz="2800"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/>
              <a:t>I’m 95% confident that the difference in salary will be around $10,900 to $18,000.</a:t>
            </a:r>
            <a:endParaRPr sz="2800"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" sz="2800"/>
              <a:t>Variable 2: Years of experience</a:t>
            </a:r>
            <a:endParaRPr b="1" sz="2800"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/>
              <a:t>With each additional year of experience, salary is expected to increase by approximately $5,104.</a:t>
            </a:r>
            <a:endParaRPr sz="2800"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/>
              <a:t>I’m 95% confident the salary will increase by approximately $4,756 and $5,453 for each additional year of experience.</a:t>
            </a:r>
            <a:endParaRPr sz="2800"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b="1" lang="en" sz="2800"/>
              <a:t>Potential next steps:</a:t>
            </a:r>
            <a:endParaRPr b="1" sz="2800"/>
          </a:p>
          <a:p>
            <a:pPr indent="-4064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</a:pPr>
            <a:r>
              <a:rPr lang="en" sz="2800"/>
              <a:t>Consider further cleaning the data to address outliers that can skew the model.</a:t>
            </a:r>
            <a:endParaRPr sz="2800"/>
          </a:p>
          <a:p>
            <a:pPr indent="-4064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</a:pPr>
            <a:r>
              <a:rPr lang="en" sz="2800"/>
              <a:t>Add more </a:t>
            </a:r>
            <a:r>
              <a:rPr lang="en" sz="2800"/>
              <a:t>features</a:t>
            </a:r>
            <a:r>
              <a:rPr lang="en" sz="2800"/>
              <a:t> to see whether they might impact salary, such as the employee’s location, age, company size, and race.</a:t>
            </a:r>
            <a:endParaRPr sz="2800"/>
          </a:p>
          <a:p>
            <a:pPr indent="-4064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</a:pPr>
            <a:r>
              <a:rPr lang="en" sz="2800"/>
              <a:t>Experiment with machine learning and scikit-learn for predicting new salary data.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